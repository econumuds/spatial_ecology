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principales:
- Vaswani et al., Attention Is All You Need (2017).
- OpenAI, Improving Language Understanding by Generative Pre-Training (2018).
- OpenAI, Language Models are Unsupervised Multitask Learners / GPT-2 (2019).
- Brown et al., Language Models are Few-Shot Learners / GPT-3 (2020).
- OpenAI, Introducing ChatGPT (Nov. 30, 2022).
- OpenAI, Function calling and other API updates (2023).
- OpenAI, Introducing OpenAI o1-preview (2024).
- OpenAI, GPT-4.1 in the API (1M context, agents).
- OpenAI API Models docs (GPT-5.6 context 1.05M, tools include computer use).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 chatbots aux agents sur ordinateur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29768" y="667512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Trois choses évoluent en parallèle : la taille/capacité des modèles, les interfaces de chat, et la capacité d’agir via des outils.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796528" y="201168"/>
            <a:ext cx="294436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79408" y="301752"/>
            <a:ext cx="777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retenir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979408" y="4846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≠ Chatbot ≠ Agent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79408" y="70408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agent = modèle + contexte + outils + boucle d’action.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1554480" y="1170432"/>
            <a:ext cx="0" cy="424281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1417320" y="978408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2017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656840" y="1170432"/>
            <a:ext cx="0" cy="424281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2519680" y="978408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2018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759200" y="1170432"/>
            <a:ext cx="0" cy="424281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3622040" y="978408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2019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861560" y="1170432"/>
            <a:ext cx="0" cy="424281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4724400" y="978408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2020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963920" y="1170432"/>
            <a:ext cx="0" cy="424281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5826760" y="978408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2021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066280" y="1170432"/>
            <a:ext cx="0" cy="424281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6929120" y="978408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2022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168640" y="1170432"/>
            <a:ext cx="0" cy="424281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8031480" y="978408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9271000" y="1170432"/>
            <a:ext cx="0" cy="424281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9133840" y="978408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0373360" y="1170432"/>
            <a:ext cx="0" cy="424281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10236200" y="978408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1475720" y="1170432"/>
            <a:ext cx="0" cy="424281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11338560" y="978408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47472" y="1408176"/>
            <a:ext cx="713232" cy="2286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1444752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MODÈLES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7472" y="3017520"/>
            <a:ext cx="804672" cy="22860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054096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CAPACITÉS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47472" y="4709160"/>
            <a:ext cx="804672" cy="22860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" y="4745736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ACTIVITÉS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554480" y="1700784"/>
            <a:ext cx="992124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1554480" y="3310128"/>
            <a:ext cx="9921240" cy="0"/>
          </a:xfrm>
          <a:prstGeom prst="line">
            <a:avLst/>
          </a:prstGeom>
          <a:noFill/>
          <a:ln w="2794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1554480" y="4974336"/>
            <a:ext cx="992124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1504188" y="165049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33856" y="1371600"/>
            <a:ext cx="841248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0" y="1426464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1188720" y="1572768"/>
            <a:ext cx="731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article 2017</a:t>
            </a:r>
            <a:endParaRPr lang="en-US" sz="620" dirty="0"/>
          </a:p>
        </p:txBody>
      </p:sp>
      <p:sp>
        <p:nvSpPr>
          <p:cNvPr id="41" name="Shape 39"/>
          <p:cNvSpPr/>
          <p:nvPr/>
        </p:nvSpPr>
        <p:spPr>
          <a:xfrm>
            <a:off x="1207008" y="1691640"/>
            <a:ext cx="694944" cy="146304"/>
          </a:xfrm>
          <a:prstGeom prst="roundRect">
            <a:avLst>
              <a:gd name="adj" fmla="val 3125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80160" y="1728216"/>
            <a:ext cx="5486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606548" y="165049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36216" y="1901952"/>
            <a:ext cx="841248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91080" y="1956816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GPT‑1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2291080" y="2103120"/>
            <a:ext cx="731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117M params</a:t>
            </a:r>
            <a:endParaRPr lang="en-US" sz="620" dirty="0"/>
          </a:p>
        </p:txBody>
      </p:sp>
      <p:sp>
        <p:nvSpPr>
          <p:cNvPr id="47" name="Shape 45"/>
          <p:cNvSpPr/>
          <p:nvPr/>
        </p:nvSpPr>
        <p:spPr>
          <a:xfrm>
            <a:off x="2309368" y="2221992"/>
            <a:ext cx="694944" cy="146304"/>
          </a:xfrm>
          <a:prstGeom prst="roundRect">
            <a:avLst>
              <a:gd name="adj" fmla="val 3125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82520" y="2258568"/>
            <a:ext cx="5486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512 tok.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708908" y="165049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38576" y="1371600"/>
            <a:ext cx="841248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93440" y="1426464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GPT‑2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3393440" y="1572768"/>
            <a:ext cx="731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1.5B params</a:t>
            </a:r>
            <a:endParaRPr lang="en-US" sz="620" dirty="0"/>
          </a:p>
        </p:txBody>
      </p:sp>
      <p:sp>
        <p:nvSpPr>
          <p:cNvPr id="53" name="Shape 51"/>
          <p:cNvSpPr/>
          <p:nvPr/>
        </p:nvSpPr>
        <p:spPr>
          <a:xfrm>
            <a:off x="3411728" y="1691640"/>
            <a:ext cx="694944" cy="146304"/>
          </a:xfrm>
          <a:prstGeom prst="roundRect">
            <a:avLst>
              <a:gd name="adj" fmla="val 3125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84880" y="1728216"/>
            <a:ext cx="5486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1K tok.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811268" y="165049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440936" y="1901952"/>
            <a:ext cx="841248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95800" y="1956816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GPT‑3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4495800" y="2103120"/>
            <a:ext cx="731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175B params</a:t>
            </a:r>
            <a:endParaRPr lang="en-US" sz="620" dirty="0"/>
          </a:p>
        </p:txBody>
      </p:sp>
      <p:sp>
        <p:nvSpPr>
          <p:cNvPr id="59" name="Shape 57"/>
          <p:cNvSpPr/>
          <p:nvPr/>
        </p:nvSpPr>
        <p:spPr>
          <a:xfrm>
            <a:off x="4514088" y="2221992"/>
            <a:ext cx="694944" cy="146304"/>
          </a:xfrm>
          <a:prstGeom prst="roundRect">
            <a:avLst>
              <a:gd name="adj" fmla="val 3125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87240" y="2258568"/>
            <a:ext cx="5486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2K tok.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015988" y="165049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586220" y="1371600"/>
            <a:ext cx="9601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41084" y="1426464"/>
            <a:ext cx="8503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GPT‑3.5</a:t>
            </a:r>
            <a:endParaRPr lang="en-US" sz="820" dirty="0"/>
          </a:p>
        </p:txBody>
      </p:sp>
      <p:sp>
        <p:nvSpPr>
          <p:cNvPr id="64" name="Text 62"/>
          <p:cNvSpPr/>
          <p:nvPr/>
        </p:nvSpPr>
        <p:spPr>
          <a:xfrm>
            <a:off x="6641084" y="1572768"/>
            <a:ext cx="8503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params non publiés</a:t>
            </a:r>
            <a:endParaRPr lang="en-US" sz="620" dirty="0"/>
          </a:p>
        </p:txBody>
      </p:sp>
      <p:sp>
        <p:nvSpPr>
          <p:cNvPr id="65" name="Shape 63"/>
          <p:cNvSpPr/>
          <p:nvPr/>
        </p:nvSpPr>
        <p:spPr>
          <a:xfrm>
            <a:off x="6659372" y="1691640"/>
            <a:ext cx="813816" cy="146304"/>
          </a:xfrm>
          <a:prstGeom prst="roundRect">
            <a:avLst>
              <a:gd name="adj" fmla="val 3125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32524" y="1728216"/>
            <a:ext cx="6675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4K→16K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8118348" y="165049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688580" y="1901952"/>
            <a:ext cx="9601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43444" y="1956816"/>
            <a:ext cx="8503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GPT‑4 / Turbo</a:t>
            </a:r>
            <a:endParaRPr lang="en-US" sz="820" dirty="0"/>
          </a:p>
        </p:txBody>
      </p:sp>
      <p:sp>
        <p:nvSpPr>
          <p:cNvPr id="70" name="Text 68"/>
          <p:cNvSpPr/>
          <p:nvPr/>
        </p:nvSpPr>
        <p:spPr>
          <a:xfrm>
            <a:off x="7743444" y="2103120"/>
            <a:ext cx="8503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params non publiés</a:t>
            </a:r>
            <a:endParaRPr lang="en-US" sz="620" dirty="0"/>
          </a:p>
        </p:txBody>
      </p:sp>
      <p:sp>
        <p:nvSpPr>
          <p:cNvPr id="71" name="Shape 69"/>
          <p:cNvSpPr/>
          <p:nvPr/>
        </p:nvSpPr>
        <p:spPr>
          <a:xfrm>
            <a:off x="7761732" y="2221992"/>
            <a:ext cx="813816" cy="146304"/>
          </a:xfrm>
          <a:prstGeom prst="roundRect">
            <a:avLst>
              <a:gd name="adj" fmla="val 3125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834884" y="2258568"/>
            <a:ext cx="6675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8K→128K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9220708" y="165049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790940" y="1371600"/>
            <a:ext cx="9601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845804" y="1426464"/>
            <a:ext cx="8503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GPT‑4o + o1</a:t>
            </a:r>
            <a:endParaRPr lang="en-US" sz="820" dirty="0"/>
          </a:p>
        </p:txBody>
      </p:sp>
      <p:sp>
        <p:nvSpPr>
          <p:cNvPr id="76" name="Text 74"/>
          <p:cNvSpPr/>
          <p:nvPr/>
        </p:nvSpPr>
        <p:spPr>
          <a:xfrm>
            <a:off x="8845804" y="1572768"/>
            <a:ext cx="8503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multimodal + reasoning</a:t>
            </a:r>
            <a:endParaRPr lang="en-US" sz="620" dirty="0"/>
          </a:p>
        </p:txBody>
      </p:sp>
      <p:sp>
        <p:nvSpPr>
          <p:cNvPr id="77" name="Shape 75"/>
          <p:cNvSpPr/>
          <p:nvPr/>
        </p:nvSpPr>
        <p:spPr>
          <a:xfrm>
            <a:off x="8864092" y="1691640"/>
            <a:ext cx="813816" cy="146304"/>
          </a:xfrm>
          <a:prstGeom prst="roundRect">
            <a:avLst>
              <a:gd name="adj" fmla="val 3125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937244" y="1728216"/>
            <a:ext cx="6675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≈128K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10323068" y="165049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893300" y="1901952"/>
            <a:ext cx="9601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948164" y="1956816"/>
            <a:ext cx="8503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GPT‑4.1</a:t>
            </a:r>
            <a:endParaRPr lang="en-US" sz="820" dirty="0"/>
          </a:p>
        </p:txBody>
      </p:sp>
      <p:sp>
        <p:nvSpPr>
          <p:cNvPr id="82" name="Text 80"/>
          <p:cNvSpPr/>
          <p:nvPr/>
        </p:nvSpPr>
        <p:spPr>
          <a:xfrm>
            <a:off x="9948164" y="2103120"/>
            <a:ext cx="8503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agents, code, long contexte</a:t>
            </a:r>
            <a:endParaRPr lang="en-US" sz="620" dirty="0"/>
          </a:p>
        </p:txBody>
      </p:sp>
      <p:sp>
        <p:nvSpPr>
          <p:cNvPr id="83" name="Shape 81"/>
          <p:cNvSpPr/>
          <p:nvPr/>
        </p:nvSpPr>
        <p:spPr>
          <a:xfrm>
            <a:off x="9966452" y="2221992"/>
            <a:ext cx="813816" cy="146304"/>
          </a:xfrm>
          <a:prstGeom prst="roundRect">
            <a:avLst>
              <a:gd name="adj" fmla="val 3125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039604" y="2258568"/>
            <a:ext cx="6675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1M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11425428" y="165049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995660" y="1371600"/>
            <a:ext cx="9601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1050524" y="1426464"/>
            <a:ext cx="8503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GPT‑5.6</a:t>
            </a:r>
            <a:endParaRPr lang="en-US" sz="820" dirty="0"/>
          </a:p>
        </p:txBody>
      </p:sp>
      <p:sp>
        <p:nvSpPr>
          <p:cNvPr id="88" name="Text 86"/>
          <p:cNvSpPr/>
          <p:nvPr/>
        </p:nvSpPr>
        <p:spPr>
          <a:xfrm>
            <a:off x="11050524" y="1572768"/>
            <a:ext cx="8503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raisonnement + tools</a:t>
            </a:r>
            <a:endParaRPr lang="en-US" sz="620" dirty="0"/>
          </a:p>
        </p:txBody>
      </p:sp>
      <p:sp>
        <p:nvSpPr>
          <p:cNvPr id="89" name="Shape 87"/>
          <p:cNvSpPr/>
          <p:nvPr/>
        </p:nvSpPr>
        <p:spPr>
          <a:xfrm>
            <a:off x="11068812" y="1691640"/>
            <a:ext cx="813816" cy="146304"/>
          </a:xfrm>
          <a:prstGeom prst="roundRect">
            <a:avLst>
              <a:gd name="adj" fmla="val 3125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1141964" y="1728216"/>
            <a:ext cx="6675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1.05M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1504188" y="3259836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33856" y="2962656"/>
            <a:ext cx="841248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188720" y="3026664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</a:t>
            </a:r>
            <a:endParaRPr lang="en-US" sz="810" dirty="0"/>
          </a:p>
        </p:txBody>
      </p:sp>
      <p:sp>
        <p:nvSpPr>
          <p:cNvPr id="94" name="Text 92"/>
          <p:cNvSpPr/>
          <p:nvPr/>
        </p:nvSpPr>
        <p:spPr>
          <a:xfrm>
            <a:off x="1188720" y="317296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texte → tokens → prochain token</a:t>
            </a:r>
            <a:endParaRPr lang="en-US" sz="620" dirty="0"/>
          </a:p>
        </p:txBody>
      </p:sp>
      <p:sp>
        <p:nvSpPr>
          <p:cNvPr id="95" name="Shape 93"/>
          <p:cNvSpPr/>
          <p:nvPr/>
        </p:nvSpPr>
        <p:spPr>
          <a:xfrm>
            <a:off x="4811268" y="3259836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440936" y="3547872"/>
            <a:ext cx="841248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495800" y="3611880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Few-shot</a:t>
            </a:r>
            <a:endParaRPr lang="en-US" sz="810" dirty="0"/>
          </a:p>
        </p:txBody>
      </p:sp>
      <p:sp>
        <p:nvSpPr>
          <p:cNvPr id="98" name="Text 96"/>
          <p:cNvSpPr/>
          <p:nvPr/>
        </p:nvSpPr>
        <p:spPr>
          <a:xfrm>
            <a:off x="4495800" y="375818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apprendre par exemples dans le prompt</a:t>
            </a:r>
            <a:endParaRPr lang="en-US" sz="620" dirty="0"/>
          </a:p>
        </p:txBody>
      </p:sp>
      <p:sp>
        <p:nvSpPr>
          <p:cNvPr id="99" name="Shape 97"/>
          <p:cNvSpPr/>
          <p:nvPr/>
        </p:nvSpPr>
        <p:spPr>
          <a:xfrm>
            <a:off x="7015988" y="3259836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645656" y="2962656"/>
            <a:ext cx="841248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700520" y="3026664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ChatGPT</a:t>
            </a:r>
            <a:endParaRPr lang="en-US" sz="810" dirty="0"/>
          </a:p>
        </p:txBody>
      </p:sp>
      <p:sp>
        <p:nvSpPr>
          <p:cNvPr id="102" name="Text 100"/>
          <p:cNvSpPr/>
          <p:nvPr/>
        </p:nvSpPr>
        <p:spPr>
          <a:xfrm>
            <a:off x="6700520" y="317296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 conversationnelle grand public</a:t>
            </a:r>
            <a:endParaRPr lang="en-US" sz="620" dirty="0"/>
          </a:p>
        </p:txBody>
      </p:sp>
      <p:sp>
        <p:nvSpPr>
          <p:cNvPr id="103" name="Shape 101"/>
          <p:cNvSpPr/>
          <p:nvPr/>
        </p:nvSpPr>
        <p:spPr>
          <a:xfrm>
            <a:off x="8118348" y="3259836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748016" y="3547872"/>
            <a:ext cx="841248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802880" y="3611880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calls</a:t>
            </a:r>
            <a:endParaRPr lang="en-US" sz="810" dirty="0"/>
          </a:p>
        </p:txBody>
      </p:sp>
      <p:sp>
        <p:nvSpPr>
          <p:cNvPr id="106" name="Text 104"/>
          <p:cNvSpPr/>
          <p:nvPr/>
        </p:nvSpPr>
        <p:spPr>
          <a:xfrm>
            <a:off x="7802880" y="375818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fonctions, API, plugins, navigateur</a:t>
            </a:r>
            <a:endParaRPr lang="en-US" sz="620" dirty="0"/>
          </a:p>
        </p:txBody>
      </p:sp>
      <p:sp>
        <p:nvSpPr>
          <p:cNvPr id="107" name="Shape 105"/>
          <p:cNvSpPr/>
          <p:nvPr/>
        </p:nvSpPr>
        <p:spPr>
          <a:xfrm>
            <a:off x="9220708" y="3259836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850376" y="2962656"/>
            <a:ext cx="841248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905240" y="3026664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Thinking</a:t>
            </a:r>
            <a:endParaRPr lang="en-US" sz="810" dirty="0"/>
          </a:p>
        </p:txBody>
      </p:sp>
      <p:sp>
        <p:nvSpPr>
          <p:cNvPr id="110" name="Text 108"/>
          <p:cNvSpPr/>
          <p:nvPr/>
        </p:nvSpPr>
        <p:spPr>
          <a:xfrm>
            <a:off x="8905240" y="317296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 de calcul au moment de répondre</a:t>
            </a:r>
            <a:endParaRPr lang="en-US" sz="620" dirty="0"/>
          </a:p>
        </p:txBody>
      </p:sp>
      <p:sp>
        <p:nvSpPr>
          <p:cNvPr id="111" name="Shape 109"/>
          <p:cNvSpPr/>
          <p:nvPr/>
        </p:nvSpPr>
        <p:spPr>
          <a:xfrm>
            <a:off x="10323068" y="3259836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916160" y="3547872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971024" y="3611880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</a:t>
            </a:r>
            <a:endParaRPr lang="en-US" sz="810" dirty="0"/>
          </a:p>
        </p:txBody>
      </p:sp>
      <p:sp>
        <p:nvSpPr>
          <p:cNvPr id="114" name="Text 112"/>
          <p:cNvSpPr/>
          <p:nvPr/>
        </p:nvSpPr>
        <p:spPr>
          <a:xfrm>
            <a:off x="9971024" y="375818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boucle : décider → agir → observer</a:t>
            </a:r>
            <a:endParaRPr lang="en-US" sz="620" dirty="0"/>
          </a:p>
        </p:txBody>
      </p:sp>
      <p:sp>
        <p:nvSpPr>
          <p:cNvPr id="115" name="Shape 113"/>
          <p:cNvSpPr/>
          <p:nvPr/>
        </p:nvSpPr>
        <p:spPr>
          <a:xfrm>
            <a:off x="11425428" y="3259836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1018520" y="2962656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1073384" y="3026664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Ordinateur</a:t>
            </a:r>
            <a:endParaRPr lang="en-US" sz="810" dirty="0"/>
          </a:p>
        </p:txBody>
      </p:sp>
      <p:sp>
        <p:nvSpPr>
          <p:cNvPr id="118" name="Text 116"/>
          <p:cNvSpPr/>
          <p:nvPr/>
        </p:nvSpPr>
        <p:spPr>
          <a:xfrm>
            <a:off x="11073384" y="317296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terminal, fichiers, Git, navigateur</a:t>
            </a:r>
            <a:endParaRPr lang="en-US" sz="620" dirty="0"/>
          </a:p>
        </p:txBody>
      </p:sp>
      <p:sp>
        <p:nvSpPr>
          <p:cNvPr id="119" name="Shape 117"/>
          <p:cNvSpPr/>
          <p:nvPr/>
        </p:nvSpPr>
        <p:spPr>
          <a:xfrm>
            <a:off x="1417320" y="4645152"/>
            <a:ext cx="205740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527048" y="4727448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Chatbot</a:t>
            </a:r>
            <a:endParaRPr lang="en-US" sz="860" dirty="0"/>
          </a:p>
        </p:txBody>
      </p:sp>
      <p:sp>
        <p:nvSpPr>
          <p:cNvPr id="121" name="Text 119"/>
          <p:cNvSpPr/>
          <p:nvPr/>
        </p:nvSpPr>
        <p:spPr>
          <a:xfrm>
            <a:off x="1527048" y="492861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 Explique ce code R »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1527048" y="51663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modèle répond en texte.</a:t>
            </a:r>
            <a:endParaRPr lang="en-US" sz="710" dirty="0"/>
          </a:p>
        </p:txBody>
      </p:sp>
      <p:sp>
        <p:nvSpPr>
          <p:cNvPr id="123" name="Shape 121"/>
          <p:cNvSpPr/>
          <p:nvPr/>
        </p:nvSpPr>
        <p:spPr>
          <a:xfrm>
            <a:off x="3511296" y="5047488"/>
            <a:ext cx="237744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24" name="Shape 122"/>
          <p:cNvSpPr/>
          <p:nvPr/>
        </p:nvSpPr>
        <p:spPr>
          <a:xfrm>
            <a:off x="3822192" y="4645152"/>
            <a:ext cx="205740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931920" y="4727448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Contexte</a:t>
            </a:r>
            <a:endParaRPr lang="en-US" sz="860" dirty="0"/>
          </a:p>
        </p:txBody>
      </p:sp>
      <p:sp>
        <p:nvSpPr>
          <p:cNvPr id="126" name="Text 124"/>
          <p:cNvSpPr/>
          <p:nvPr/>
        </p:nvSpPr>
        <p:spPr>
          <a:xfrm>
            <a:off x="3931920" y="492861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 Voici mon script + CSV »</a:t>
            </a:r>
            <a:endParaRPr lang="en-US" sz="800" dirty="0"/>
          </a:p>
        </p:txBody>
      </p:sp>
      <p:sp>
        <p:nvSpPr>
          <p:cNvPr id="127" name="Text 125"/>
          <p:cNvSpPr/>
          <p:nvPr/>
        </p:nvSpPr>
        <p:spPr>
          <a:xfrm>
            <a:off x="3931920" y="51663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fichiers deviennent des tokens.</a:t>
            </a:r>
            <a:endParaRPr lang="en-US" sz="710" dirty="0"/>
          </a:p>
        </p:txBody>
      </p:sp>
      <p:sp>
        <p:nvSpPr>
          <p:cNvPr id="128" name="Shape 126"/>
          <p:cNvSpPr/>
          <p:nvPr/>
        </p:nvSpPr>
        <p:spPr>
          <a:xfrm>
            <a:off x="5916168" y="5047488"/>
            <a:ext cx="36576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29" name="Shape 127"/>
          <p:cNvSpPr/>
          <p:nvPr/>
        </p:nvSpPr>
        <p:spPr>
          <a:xfrm>
            <a:off x="6355080" y="4645152"/>
            <a:ext cx="205740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464808" y="4727448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Tool calls</a:t>
            </a:r>
            <a:endParaRPr lang="en-US" sz="860" dirty="0"/>
          </a:p>
        </p:txBody>
      </p:sp>
      <p:sp>
        <p:nvSpPr>
          <p:cNvPr id="131" name="Text 129"/>
          <p:cNvSpPr/>
          <p:nvPr/>
        </p:nvSpPr>
        <p:spPr>
          <a:xfrm>
            <a:off x="6464808" y="492861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 Lis le fichier, lance Rscript »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6464808" y="51663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modèle demande une action.</a:t>
            </a:r>
            <a:endParaRPr lang="en-US" sz="710" dirty="0"/>
          </a:p>
        </p:txBody>
      </p:sp>
      <p:sp>
        <p:nvSpPr>
          <p:cNvPr id="133" name="Shape 131"/>
          <p:cNvSpPr/>
          <p:nvPr/>
        </p:nvSpPr>
        <p:spPr>
          <a:xfrm>
            <a:off x="8449056" y="5047488"/>
            <a:ext cx="45720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34" name="Shape 132"/>
          <p:cNvSpPr/>
          <p:nvPr/>
        </p:nvSpPr>
        <p:spPr>
          <a:xfrm>
            <a:off x="8979408" y="4645152"/>
            <a:ext cx="2057400" cy="795528"/>
          </a:xfrm>
          <a:prstGeom prst="roundRect">
            <a:avLst>
              <a:gd name="adj" fmla="val 9195"/>
            </a:avLst>
          </a:prstGeom>
          <a:solidFill>
            <a:srgbClr val="FEFCE8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9089136" y="4727448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Agent ordinateur</a:t>
            </a:r>
            <a:endParaRPr lang="en-US" sz="860" dirty="0"/>
          </a:p>
        </p:txBody>
      </p:sp>
      <p:sp>
        <p:nvSpPr>
          <p:cNvPr id="136" name="Text 134"/>
          <p:cNvSpPr/>
          <p:nvPr/>
        </p:nvSpPr>
        <p:spPr>
          <a:xfrm>
            <a:off x="9089136" y="492861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 Explore le repo, corrige, teste »</a:t>
            </a:r>
            <a:endParaRPr lang="en-US" sz="800" dirty="0"/>
          </a:p>
        </p:txBody>
      </p:sp>
      <p:sp>
        <p:nvSpPr>
          <p:cNvPr id="137" name="Text 135"/>
          <p:cNvSpPr/>
          <p:nvPr/>
        </p:nvSpPr>
        <p:spPr>
          <a:xfrm>
            <a:off x="9089136" y="51663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Boucle terminal/Git/fichiers.</a:t>
            </a:r>
            <a:endParaRPr lang="en-US" sz="710" dirty="0"/>
          </a:p>
        </p:txBody>
      </p:sp>
      <p:sp>
        <p:nvSpPr>
          <p:cNvPr id="138" name="Shape 136"/>
          <p:cNvSpPr/>
          <p:nvPr/>
        </p:nvSpPr>
        <p:spPr>
          <a:xfrm>
            <a:off x="438912" y="5824728"/>
            <a:ext cx="11320272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640080" y="5943600"/>
            <a:ext cx="8549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Nuance importante : après GPT‑3, OpenAI ne publie généralement plus le nombre de paramètres. La capacité pratique se lit donc mieux par le contexte en tokens, les outils, le raisonnement, la vitesse/coût et la fiabilité.</a:t>
            </a:r>
            <a:endParaRPr lang="en-US" sz="810" dirty="0"/>
          </a:p>
        </p:txBody>
      </p:sp>
      <p:sp>
        <p:nvSpPr>
          <p:cNvPr id="140" name="Text 138"/>
          <p:cNvSpPr/>
          <p:nvPr/>
        </p:nvSpPr>
        <p:spPr>
          <a:xfrm>
            <a:off x="9281160" y="593445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: Vaswani et al. 2017; Radford et al. 2018/2019; Brown et al. 2020; OpenAI docs.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ag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ag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ag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ag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ag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 chatbots aux agents sur ordinateur</dc:title>
  <dc:subject>LLM timeline for ecologists</dc:subject>
  <dc:creator>OpenAI</dc:creator>
  <cp:lastModifiedBy>OpenAI</cp:lastModifiedBy>
  <cp:revision>1</cp:revision>
  <dcterms:created xsi:type="dcterms:W3CDTF">2026-08-24T15:52:42Z</dcterms:created>
  <dcterms:modified xsi:type="dcterms:W3CDTF">2026-08-24T15:52:42Z</dcterms:modified>
</cp:coreProperties>
</file>